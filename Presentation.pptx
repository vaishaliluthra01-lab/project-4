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83" r:id="rId5"/>
    <p:sldId id="298" r:id="rId6"/>
    <p:sldId id="304" r:id="rId7"/>
    <p:sldId id="285" r:id="rId8"/>
    <p:sldId id="299" r:id="rId9"/>
    <p:sldId id="291" r:id="rId10"/>
    <p:sldId id="300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4ED"/>
    <a:srgbClr val="403A2F"/>
    <a:srgbClr val="474134"/>
    <a:srgbClr val="554D3D"/>
    <a:srgbClr val="595515"/>
    <a:srgbClr val="5A532C"/>
    <a:srgbClr val="5B542C"/>
    <a:srgbClr val="59522B"/>
    <a:srgbClr val="5D562D"/>
    <a:srgbClr val="655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9"/>
    <p:restoredTop sz="96229" autoAdjust="0"/>
  </p:normalViewPr>
  <p:slideViewPr>
    <p:cSldViewPr snapToGrid="0" showGuides="1">
      <p:cViewPr varScale="1">
        <p:scale>
          <a:sx n="86" d="100"/>
          <a:sy n="86" d="100"/>
        </p:scale>
        <p:origin x="490" y="67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20:23:2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24575,'0'3'0,"0"-1"0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20:23:2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20:23:23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20:23:2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24575,'0'3'0,"0"-1"0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20:23:2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20:23:23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6648-F114-4402-B049-AA57EA7F202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15FE-BC4D-474E-9AA3-6983BC3D8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815FE-BC4D-474E-9AA3-6983BC3D87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73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5942-4D64-DE0E-4845-CDBD4BF7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5E856-02EA-DF9D-8B55-63AAED86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ED257-D0D4-21BE-66ED-9DC397524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5A9B3-E924-43ED-0B91-9DD1578BA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815FE-BC4D-474E-9AA3-6983BC3D87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8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36976"/>
            <a:ext cx="6867144" cy="2386584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776472" cy="53035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0"/>
            <a:ext cx="4370832" cy="219456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2212849"/>
            <a:ext cx="7335814" cy="4645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anchor="ctr"/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5976" y="5102352"/>
            <a:ext cx="2889504" cy="36576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225296"/>
            <a:ext cx="4718304" cy="164592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898648"/>
            <a:ext cx="4370832" cy="20299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10287000" cy="456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6344"/>
            <a:ext cx="3236976" cy="99669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5844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8309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280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093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5844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8309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280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3866404" y="92946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192024"/>
            <a:ext cx="8165592" cy="72237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24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78408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853036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839320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2125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18409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5329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61613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05840"/>
            <a:ext cx="7187184" cy="4251960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" y="54864"/>
            <a:ext cx="11256264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483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474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279472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23483" y="1278001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3483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8" y="5788152"/>
            <a:ext cx="3858768" cy="5324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7008" y="5266944"/>
            <a:ext cx="3858768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3227832" cy="96926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20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16936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916936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58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358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644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644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132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132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3866404" y="52254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6655" y="5143104"/>
            <a:ext cx="3355345" cy="1252728"/>
          </a:xfrm>
        </p:spPr>
        <p:txBody>
          <a:bodyPr anchor="ctr"/>
          <a:lstStyle>
            <a:lvl1pPr marL="0" indent="0"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76"/>
            <a:ext cx="5294376" cy="969264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157787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92" y="1417320"/>
            <a:ext cx="5157787" cy="2029968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941064"/>
            <a:ext cx="5183188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485555"/>
            <a:ext cx="5183188" cy="1197864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1673352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07592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" y="3452264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3102" y="3086504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5288457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4922697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2155720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283336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4856116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3983732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2" y="4389120"/>
            <a:ext cx="4709160" cy="1645920"/>
          </a:xfrm>
        </p:spPr>
        <p:txBody>
          <a:bodyPr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2130552"/>
            <a:ext cx="8165592" cy="17556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5545" y="319125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782" y="4498848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94782" y="579729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2/learn-mobile-price-prediction-through-four-classification-algorithm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ock.adobe.com/ca/search?k=%22problem%20statement%2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drecnf.github.io/2019/07/31/InterpretingRecurrentNeuralNetworksOnMultivariateTimeSeries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ture-processing.com/blog/data-preprocessing-a-comprehensive-step-by-step-guide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hyperlink" Target="https://medium.com/@yudayreddy1/car-insurance-claim-prediction-model-bff7f06a9a77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hyperlink" Target="https://eoxs.com/new_blog/how-sales-analytics-can-transform-your-strategy/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5.xml"/><Relationship Id="rId5" Type="http://schemas.openxmlformats.org/officeDocument/2006/relationships/image" Target="../media/image6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1341B-74CE-99E1-8A79-DB717AB6E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143" y="3455363"/>
            <a:ext cx="10404437" cy="2515669"/>
          </a:xfrm>
        </p:spPr>
        <p:txBody>
          <a:bodyPr/>
          <a:lstStyle/>
          <a:p>
            <a:r>
              <a:rPr lang="en-US" sz="5400" dirty="0"/>
              <a:t>Mobile Price Prediction using Machine Learning</a:t>
            </a:r>
            <a:br>
              <a:rPr lang="en-US" sz="5400" dirty="0"/>
            </a:br>
            <a:r>
              <a:rPr lang="en-US" sz="5400" dirty="0"/>
              <a:t>                </a:t>
            </a:r>
            <a:r>
              <a:rPr lang="en-US" sz="2800" dirty="0"/>
              <a:t>Feature Extraction &amp; 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867331-230D-9C0A-257F-D767A3E56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presentation by Vaishali Luthra</a:t>
            </a:r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260DAAE-F925-11DA-1392-452BA0DFE2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5561" b="25561"/>
          <a:stretch/>
        </p:blipFill>
        <p:spPr/>
      </p:pic>
    </p:spTree>
    <p:extLst>
      <p:ext uri="{BB962C8B-B14F-4D97-AF65-F5344CB8AC3E}">
        <p14:creationId xmlns:p14="http://schemas.microsoft.com/office/powerpoint/2010/main" val="147962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BBD9FBF-BDEA-E2A9-5AC0-F365EF1C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599" y="-350837"/>
            <a:ext cx="7467600" cy="1595458"/>
          </a:xfrm>
        </p:spPr>
        <p:txBody>
          <a:bodyPr/>
          <a:lstStyle/>
          <a:p>
            <a:r>
              <a:rPr lang="en-US" sz="2800" dirty="0"/>
              <a:t> Objective &amp; Problem Statement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1A06734-9234-687F-E232-56B8B04C89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622" t="-2433" r="18554" b="2433"/>
          <a:stretch>
            <a:fillRect/>
          </a:stretch>
        </p:blipFill>
        <p:spPr>
          <a:xfrm>
            <a:off x="-531340" y="-285755"/>
            <a:ext cx="5338866" cy="7143755"/>
          </a:xfr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B69E8E6-9D16-D9E3-B5C1-6F6E6588B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881823"/>
              </p:ext>
            </p:extLst>
          </p:nvPr>
        </p:nvGraphicFramePr>
        <p:xfrm>
          <a:off x="4856164" y="893783"/>
          <a:ext cx="7335836" cy="10923748"/>
        </p:xfrm>
        <a:graphic>
          <a:graphicData uri="http://schemas.openxmlformats.org/drawingml/2006/table">
            <a:tbl>
              <a:tblPr firstRow="1" bandRow="1"/>
              <a:tblGrid>
                <a:gridCol w="2524350">
                  <a:extLst>
                    <a:ext uri="{9D8B030D-6E8A-4147-A177-3AD203B41FA5}">
                      <a16:colId xmlns:a16="http://schemas.microsoft.com/office/drawing/2014/main" val="1680321436"/>
                    </a:ext>
                  </a:extLst>
                </a:gridCol>
                <a:gridCol w="4811486">
                  <a:extLst>
                    <a:ext uri="{9D8B030D-6E8A-4147-A177-3AD203B41FA5}">
                      <a16:colId xmlns:a16="http://schemas.microsoft.com/office/drawing/2014/main" val="1621479666"/>
                    </a:ext>
                  </a:extLst>
                </a:gridCol>
              </a:tblGrid>
              <a:tr h="157727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To predict prices OF mobile - phone based on their features.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8244635"/>
                  </a:ext>
                </a:extLst>
              </a:tr>
              <a:tr h="126274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Mobile prices vary a lot</a:t>
                      </a: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13436"/>
                  </a:ext>
                </a:extLst>
              </a:tr>
              <a:tr h="43325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we need to understand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1. Which features affect price the most</a:t>
                      </a:r>
                      <a:br>
                        <a:rPr lang="en-US" sz="18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</a:br>
                      <a:r>
                        <a:rPr lang="en-US" sz="18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2. How to estimate price accurately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8392374"/>
                  </a:ext>
                </a:extLst>
              </a:tr>
              <a:tr h="159149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GOAL</a:t>
                      </a:r>
                    </a:p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“The goal is to build a model that predicts price and identifies key influencing features.”</a:t>
                      </a: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8263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90953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891090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967505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7397146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5022166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1053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21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DC02-670F-AAC5-3654-E58719FA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E2E8923-0E61-6E0E-586A-F5B53C13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713" y="-220418"/>
            <a:ext cx="7467600" cy="1595458"/>
          </a:xfrm>
        </p:spPr>
        <p:txBody>
          <a:bodyPr/>
          <a:lstStyle/>
          <a:p>
            <a:r>
              <a:rPr lang="en-US" sz="2800" dirty="0"/>
              <a:t>Dataset &amp; Features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542C26E-EE25-1B32-1231-7F7F1846C9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887" t="-112" r="10088" b="6969"/>
          <a:stretch>
            <a:fillRect/>
          </a:stretch>
        </p:blipFill>
        <p:spPr>
          <a:xfrm>
            <a:off x="7335816" y="1"/>
            <a:ext cx="4856184" cy="6858000"/>
          </a:xfr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144FBF31-0CC3-D3B7-8266-26F633B2A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475101"/>
              </p:ext>
            </p:extLst>
          </p:nvPr>
        </p:nvGraphicFramePr>
        <p:xfrm>
          <a:off x="-21607" y="907851"/>
          <a:ext cx="7335836" cy="12519693"/>
        </p:xfrm>
        <a:graphic>
          <a:graphicData uri="http://schemas.openxmlformats.org/drawingml/2006/table">
            <a:tbl>
              <a:tblPr firstRow="1" bandRow="1"/>
              <a:tblGrid>
                <a:gridCol w="2524350">
                  <a:extLst>
                    <a:ext uri="{9D8B030D-6E8A-4147-A177-3AD203B41FA5}">
                      <a16:colId xmlns:a16="http://schemas.microsoft.com/office/drawing/2014/main" val="1680321436"/>
                    </a:ext>
                  </a:extLst>
                </a:gridCol>
                <a:gridCol w="4811486">
                  <a:extLst>
                    <a:ext uri="{9D8B030D-6E8A-4147-A177-3AD203B41FA5}">
                      <a16:colId xmlns:a16="http://schemas.microsoft.com/office/drawing/2014/main" val="1621479666"/>
                    </a:ext>
                  </a:extLst>
                </a:gridCol>
              </a:tblGrid>
              <a:tr h="16958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Dataset includes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RAM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Battery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Camera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Processor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Color &amp; Model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8244635"/>
                  </a:ext>
                </a:extLst>
              </a:tr>
              <a:tr h="12315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Price</a:t>
                      </a: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13436"/>
                  </a:ext>
                </a:extLst>
              </a:tr>
              <a:tr h="22290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these  features represent  both performance  and design aspects  of  a phone.</a:t>
                      </a: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8392374"/>
                  </a:ext>
                </a:extLst>
              </a:tr>
              <a:tr h="159149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GOAL</a:t>
                      </a:r>
                    </a:p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“The goal is to build a model that predicts price and identifies key influencing features.”</a:t>
                      </a: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8263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90953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891090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967505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7397146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5022166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1053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73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8107" y="436160"/>
            <a:ext cx="4718304" cy="1645920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06013D7-A986-C5B1-63AC-31DEC6FB89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1830" r="18206"/>
          <a:stretch>
            <a:fillRect/>
          </a:stretch>
        </p:blipFill>
        <p:spPr>
          <a:xfrm>
            <a:off x="835589" y="959253"/>
            <a:ext cx="4773088" cy="493949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DFB8-B7A2-DE8A-3E38-FC3170612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587" y="2956460"/>
            <a:ext cx="5301343" cy="2137524"/>
          </a:xfrm>
        </p:spPr>
        <p:txBody>
          <a:bodyPr/>
          <a:lstStyle/>
          <a:p>
            <a:r>
              <a:rPr lang="en-US" sz="1600" dirty="0"/>
              <a:t>Steps performed:</a:t>
            </a:r>
          </a:p>
          <a:p>
            <a:r>
              <a:rPr lang="en-US" sz="1600" dirty="0"/>
              <a:t>Handled missing values</a:t>
            </a:r>
          </a:p>
          <a:p>
            <a:r>
              <a:rPr lang="en-US" sz="1600" dirty="0"/>
              <a:t>Converted categorical data using One-Hot Encoding</a:t>
            </a:r>
          </a:p>
          <a:p>
            <a:r>
              <a:rPr lang="en-US" sz="1600" dirty="0"/>
              <a:t>Explanation:</a:t>
            </a:r>
          </a:p>
          <a:p>
            <a:r>
              <a:rPr lang="en-US" sz="1600" dirty="0"/>
              <a:t>“Machine learning models cannot understand text data, so encoding converts it into numerical format.”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127E98-F085-5A66-9D65-E2BAC77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5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FABF6-1972-8C3B-5D73-E4CDBE11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E81C-767C-27D9-D180-73A41874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885" y="-216953"/>
            <a:ext cx="8742970" cy="969264"/>
          </a:xfrm>
        </p:spPr>
        <p:txBody>
          <a:bodyPr/>
          <a:lstStyle/>
          <a:p>
            <a:r>
              <a:rPr lang="en-US" sz="3600" dirty="0"/>
              <a:t>Feature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930F5-76E4-4E17-9BCF-73670963E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548" y="850509"/>
            <a:ext cx="5157787" cy="202996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What we did</a:t>
            </a:r>
          </a:p>
          <a:p>
            <a:r>
              <a:rPr lang="en-US" sz="2400" dirty="0"/>
              <a:t>Used correlation heatmap</a:t>
            </a:r>
          </a:p>
          <a:p>
            <a:pPr marL="0" indent="0">
              <a:buNone/>
            </a:pPr>
            <a:r>
              <a:rPr lang="en-US" sz="2400" dirty="0"/>
              <a:t>Explanation </a:t>
            </a:r>
          </a:p>
          <a:p>
            <a:r>
              <a:rPr lang="en-US" sz="2400" dirty="0"/>
              <a:t>Values close to +1 → strong positive relationship</a:t>
            </a:r>
          </a:p>
          <a:p>
            <a:r>
              <a:rPr lang="en-US" sz="2400" dirty="0"/>
              <a:t>Values close to 0 → weak relationship</a:t>
            </a:r>
          </a:p>
          <a:p>
            <a:pPr marL="0" indent="0">
              <a:buNone/>
            </a:pPr>
            <a:r>
              <a:rPr lang="en-US" sz="2400" dirty="0"/>
              <a:t>Key Insight</a:t>
            </a:r>
          </a:p>
          <a:p>
            <a:r>
              <a:rPr lang="en-US" sz="2400" dirty="0"/>
              <a:t>“RAM, Storage, and Processor show strong correlation with price.”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4F096BD-662F-2A3E-4161-14E5F15E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9F9ABDD-0DBA-A2BE-A00D-3AB9F18ECF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-8144" b="-7556"/>
          <a:stretch>
            <a:fillRect/>
          </a:stretch>
        </p:blipFill>
        <p:spPr>
          <a:xfrm>
            <a:off x="0" y="1672936"/>
            <a:ext cx="6096000" cy="421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1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BA72-039E-DC2E-355E-F1172D22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839" y="625138"/>
            <a:ext cx="8742970" cy="969264"/>
          </a:xfrm>
        </p:spPr>
        <p:txBody>
          <a:bodyPr/>
          <a:lstStyle/>
          <a:p>
            <a:r>
              <a:rPr lang="en-US" sz="2800" dirty="0"/>
              <a:t>Model Building &amp; Evaluation</a:t>
            </a:r>
          </a:p>
        </p:txBody>
      </p:sp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2916D8C7-8EA5-2E6F-F81A-B14A1E3F97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295" r="10295"/>
          <a:stretch/>
        </p:blipFill>
        <p:spPr>
          <a:xfrm>
            <a:off x="0" y="1604921"/>
            <a:ext cx="5965371" cy="429259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C2971-7886-2287-75E6-F484F930D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3850" y="1649273"/>
            <a:ext cx="5758150" cy="424824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Models used</a:t>
            </a:r>
          </a:p>
          <a:p>
            <a:r>
              <a:rPr lang="en-US" sz="2400" dirty="0"/>
              <a:t>Linear Regression</a:t>
            </a:r>
          </a:p>
          <a:p>
            <a:r>
              <a:rPr lang="en-US" sz="2400" dirty="0"/>
              <a:t>Random Forest</a:t>
            </a:r>
          </a:p>
          <a:p>
            <a:pPr marL="0" indent="0">
              <a:buNone/>
            </a:pPr>
            <a:r>
              <a:rPr lang="en-US" sz="2400" dirty="0"/>
              <a:t> Evaluation Metrics</a:t>
            </a:r>
          </a:p>
          <a:p>
            <a:r>
              <a:rPr lang="en-US" sz="2400" dirty="0"/>
              <a:t>MAE(Mean Absolute Error)</a:t>
            </a:r>
          </a:p>
          <a:p>
            <a:r>
              <a:rPr lang="en-US" sz="2400" dirty="0"/>
              <a:t>RMSE(Root Mean Square Error)</a:t>
            </a:r>
          </a:p>
          <a:p>
            <a:pPr marL="0" indent="0">
              <a:buNone/>
            </a:pPr>
            <a:r>
              <a:rPr lang="en-US" sz="2400" dirty="0"/>
              <a:t> Explanation: “Random Forest performed better because it captures complex patterns in data.”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815897-F8B8-2427-BC3B-2B4F4840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5FE20D-BBB2-73EC-C28C-BFDA4581E0C5}"/>
              </a:ext>
            </a:extLst>
          </p:cNvPr>
          <p:cNvGrpSpPr/>
          <p:nvPr/>
        </p:nvGrpSpPr>
        <p:grpSpPr>
          <a:xfrm>
            <a:off x="7232211" y="2664257"/>
            <a:ext cx="360" cy="2160"/>
            <a:chOff x="7232211" y="2664257"/>
            <a:chExt cx="360" cy="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4B7179-F20F-BA5A-C98A-ED38434B247A}"/>
                    </a:ext>
                  </a:extLst>
                </p14:cNvPr>
                <p14:cNvContentPartPr/>
                <p14:nvPr/>
              </p14:nvContentPartPr>
              <p14:xfrm>
                <a:off x="7232211" y="2664257"/>
                <a:ext cx="360" cy="2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4B7179-F20F-BA5A-C98A-ED38434B24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26091" y="2658137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292968-70D2-7FD8-850C-D0EE68108A63}"/>
                    </a:ext>
                  </a:extLst>
                </p14:cNvPr>
                <p14:cNvContentPartPr/>
                <p14:nvPr/>
              </p14:nvContentPartPr>
              <p14:xfrm>
                <a:off x="7232211" y="2666057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292968-70D2-7FD8-850C-D0EE68108A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26091" y="26599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39BA667-F52A-7991-A3CD-DEB04833CB80}"/>
                  </a:ext>
                </a:extLst>
              </p14:cNvPr>
              <p14:cNvContentPartPr/>
              <p14:nvPr/>
            </p14:nvContentPartPr>
            <p14:xfrm>
              <a:off x="7874811" y="3237737"/>
              <a:ext cx="360" cy="2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39BA667-F52A-7991-A3CD-DEB04833CB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68691" y="3231617"/>
                <a:ext cx="126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80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05C8B-CD1C-46B0-3233-81BC9D3B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769A-B2AD-2C4E-C127-DE75B36B8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490" y="622957"/>
            <a:ext cx="5298510" cy="969264"/>
          </a:xfrm>
        </p:spPr>
        <p:txBody>
          <a:bodyPr/>
          <a:lstStyle/>
          <a:p>
            <a:r>
              <a:rPr lang="en-US" sz="3600" dirty="0"/>
              <a:t>Results &amp; Insights</a:t>
            </a:r>
          </a:p>
        </p:txBody>
      </p:sp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A8D08D32-6C7D-50D3-217F-184F0654069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792" r="10792"/>
          <a:stretch/>
        </p:blipFill>
        <p:spPr>
          <a:xfrm>
            <a:off x="0" y="1592221"/>
            <a:ext cx="5987144" cy="429259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01860-AD4F-CE07-B147-AAA14B50F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9321" y="1473963"/>
            <a:ext cx="5157787" cy="202996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Important Features</a:t>
            </a:r>
          </a:p>
          <a:p>
            <a:r>
              <a:rPr lang="en-US" sz="2400" dirty="0"/>
              <a:t>RAM</a:t>
            </a:r>
          </a:p>
          <a:p>
            <a:r>
              <a:rPr lang="en-US" sz="2400" dirty="0"/>
              <a:t>Storage</a:t>
            </a:r>
          </a:p>
          <a:p>
            <a:r>
              <a:rPr lang="en-US" sz="2400" dirty="0"/>
              <a:t>Processor</a:t>
            </a:r>
          </a:p>
          <a:p>
            <a:r>
              <a:rPr lang="en-US" sz="2400" dirty="0"/>
              <a:t>Camera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Observations</a:t>
            </a:r>
          </a:p>
          <a:p>
            <a:r>
              <a:rPr lang="en-US" sz="2400" dirty="0"/>
              <a:t>Higher specs → Higher price</a:t>
            </a:r>
          </a:p>
          <a:p>
            <a:r>
              <a:rPr lang="en-US" sz="2400" dirty="0"/>
              <a:t>Color has minimal impact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3B5E56-EF8E-D8F3-FA79-D2B6DDCC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9ECACD-DB50-03D8-3C54-D5BFB3741989}"/>
              </a:ext>
            </a:extLst>
          </p:cNvPr>
          <p:cNvGrpSpPr/>
          <p:nvPr/>
        </p:nvGrpSpPr>
        <p:grpSpPr>
          <a:xfrm>
            <a:off x="7232211" y="2664257"/>
            <a:ext cx="360" cy="2160"/>
            <a:chOff x="7232211" y="2664257"/>
            <a:chExt cx="360" cy="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9E5180-4778-6BB3-D0B6-EBF9F6D65B6E}"/>
                    </a:ext>
                  </a:extLst>
                </p14:cNvPr>
                <p14:cNvContentPartPr/>
                <p14:nvPr/>
              </p14:nvContentPartPr>
              <p14:xfrm>
                <a:off x="7232211" y="2664257"/>
                <a:ext cx="360" cy="2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9E5180-4778-6BB3-D0B6-EBF9F6D65B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26091" y="2658137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AA6876-284E-8EFF-DD53-343354F2C1A3}"/>
                    </a:ext>
                  </a:extLst>
                </p14:cNvPr>
                <p14:cNvContentPartPr/>
                <p14:nvPr/>
              </p14:nvContentPartPr>
              <p14:xfrm>
                <a:off x="7232211" y="2666057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AA6876-284E-8EFF-DD53-343354F2C1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26091" y="26599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D97DA7-CB83-EC40-E5F8-D830C312C6BE}"/>
                  </a:ext>
                </a:extLst>
              </p14:cNvPr>
              <p14:cNvContentPartPr/>
              <p14:nvPr/>
            </p14:nvContentPartPr>
            <p14:xfrm>
              <a:off x="7874811" y="3237737"/>
              <a:ext cx="360" cy="2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D97DA7-CB83-EC40-E5F8-D830C312C6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68691" y="3231617"/>
                <a:ext cx="126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506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EB5D-C504-369F-0181-B4054907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383" y="4372495"/>
            <a:ext cx="10252086" cy="1645920"/>
          </a:xfrm>
        </p:spPr>
        <p:txBody>
          <a:bodyPr/>
          <a:lstStyle/>
          <a:p>
            <a:r>
              <a:rPr lang="en-US" sz="2400" dirty="0"/>
              <a:t>Conclusion</a:t>
            </a:r>
            <a:br>
              <a:rPr lang="en-US" sz="2400" dirty="0"/>
            </a:br>
            <a:r>
              <a:rPr lang="en-US" sz="2400" dirty="0"/>
              <a:t>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9CBDF-8587-28A0-CAD5-7A42FF72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204" y="1607681"/>
            <a:ext cx="8165592" cy="1755648"/>
          </a:xfrm>
        </p:spPr>
        <p:txBody>
          <a:bodyPr/>
          <a:lstStyle/>
          <a:p>
            <a:r>
              <a:rPr lang="en-US" sz="2800" b="1" dirty="0"/>
              <a:t>Conclusion</a:t>
            </a:r>
          </a:p>
          <a:p>
            <a:r>
              <a:rPr lang="en-US" dirty="0"/>
              <a:t>Model successfully predicts mobile prices</a:t>
            </a:r>
          </a:p>
          <a:p>
            <a:r>
              <a:rPr lang="en-US" dirty="0"/>
              <a:t>Feature extraction helped identify key factors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sz="2400" b="1" dirty="0"/>
              <a:t>Recommendations</a:t>
            </a:r>
          </a:p>
          <a:p>
            <a:r>
              <a:rPr lang="en-US" dirty="0"/>
              <a:t>Focus pricing on performance features</a:t>
            </a:r>
          </a:p>
          <a:p>
            <a:r>
              <a:rPr lang="en-US" dirty="0"/>
              <a:t>Highlight processor &amp; camera in marketing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41990-F92B-71BE-C206-FC1157F6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6FF14-B4A8-B12E-F502-79C53679848F}"/>
              </a:ext>
            </a:extLst>
          </p:cNvPr>
          <p:cNvSpPr txBox="1"/>
          <p:nvPr/>
        </p:nvSpPr>
        <p:spPr>
          <a:xfrm>
            <a:off x="2951018" y="51954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38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-Design-Berlin-Presentation_Win32_SW_v11" id="{A1E1012F-E9F8-4F40-92C8-C50A5DD6BDB3}" vid="{84DD5023-C7E9-4B03-B2A5-92320E38E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741A42-9646-4B63-A6BC-7DA2EE5F87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9B373E-6FDE-4773-A0C6-CDA9846E30C9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71af3243-3dd4-4a8d-8c0d-dd76da1f02a5"/>
    <ds:schemaRef ds:uri="http://purl.org/dc/terms/"/>
    <ds:schemaRef ds:uri="16c05727-aa75-4e4a-9b5f-8a80a1165891"/>
    <ds:schemaRef ds:uri="http://www.w3.org/XML/1998/namespace"/>
    <ds:schemaRef ds:uri="http://schemas.microsoft.com/office/2006/documentManagement/types"/>
    <ds:schemaRef ds:uri="230e9df3-be65-4c73-a93b-d1236ebd677e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BB8FCA9-2C7D-45A4-87C8-02C272E9F4D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</TotalTime>
  <Words>296</Words>
  <Application>Microsoft Office PowerPoint</Application>
  <PresentationFormat>Widescreen</PresentationFormat>
  <Paragraphs>72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 Next LT Pro</vt:lpstr>
      <vt:lpstr>Calibri</vt:lpstr>
      <vt:lpstr>Felix Titling</vt:lpstr>
      <vt:lpstr>Gill Sans Nova Light</vt:lpstr>
      <vt:lpstr>Wingdings</vt:lpstr>
      <vt:lpstr>Office Theme</vt:lpstr>
      <vt:lpstr>Mobile Price Prediction using Machine Learning                 Feature Extraction &amp; Analysis</vt:lpstr>
      <vt:lpstr> Objective &amp; Problem Statement</vt:lpstr>
      <vt:lpstr>Dataset &amp; Features</vt:lpstr>
      <vt:lpstr>Data Preprocessing</vt:lpstr>
      <vt:lpstr>Feature Analysis</vt:lpstr>
      <vt:lpstr>Model Building &amp; Evaluation</vt:lpstr>
      <vt:lpstr>Results &amp; Insights</vt:lpstr>
      <vt:lpstr>Conclusion and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_</dc:creator>
  <cp:lastModifiedBy>Vaishali Luthra</cp:lastModifiedBy>
  <cp:revision>5</cp:revision>
  <dcterms:created xsi:type="dcterms:W3CDTF">2026-01-30T19:43:15Z</dcterms:created>
  <dcterms:modified xsi:type="dcterms:W3CDTF">2026-04-01T09:58:09Z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